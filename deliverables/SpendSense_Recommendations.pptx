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5FF00"/>
                </a:solidFill>
              </a:defRPr>
            </a:pPr>
            <a:r>
              <a:t>AMERICAN EXPRESS · CLOSED-LOOP PAYMENTS SIMULATION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SpendSense: Portfolio Analytics &amp;</a:t>
            </a:r>
            <a:br/>
            <a:r>
              <a:t>Fraud Risk Intelligence</a:t>
            </a:r>
          </a:p>
          <a:p>
            <a:br/>
            <a:pPr>
              <a:defRPr sz="1600">
                <a:solidFill>
                  <a:srgbClr val="9CA3AF"/>
                </a:solidFill>
              </a:defRPr>
            </a:pPr>
            <a:r>
              <a:t>Executive Recommendation Deck · Translating 285K Transactions into Quantified Risk &amp; Growth Actions</a:t>
            </a:r>
          </a:p>
          <a:p>
            <a:pPr>
              <a:defRPr sz="1200">
                <a:solidFill>
                  <a:srgbClr val="00A3E0"/>
                </a:solidFill>
              </a:defRPr>
            </a:pPr>
            <a:r>
              <a:t>Target Roles: Risk Analytics · Digital &amp; Data Solutions · Consumer Services</a:t>
            </a:r>
            <a:br/>
            <a:r>
              <a:t>Tech Stack: Python (XGBoost, Scikit-learn) · SQL (PostgreSQL) · Precision/Recall/AUPRC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DATA ENGINEERING &amp; GOVERNANCE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Data Foundation &amp; Dual-Track Analytics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8181F"/>
          </a:solidFill>
          <a:ln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5FF00"/>
                </a:solidFill>
              </a:defRPr>
            </a:pPr>
            <a:r>
              <a:t>01. Transaction Stream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Kaggle European Cardholder dataset (~285K rows, 492 frauds, ~0.17% fraud rate). PCA components V1-V28, Time elapsed, and Amount. Rigorously cleaned and loaded into relational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18181F"/>
          </a:solidFill>
          <a:ln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5FF00"/>
                </a:solidFill>
              </a:defRPr>
            </a:pPr>
            <a:r>
              <a:t>02. Customer Enrichment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Synthetic behavioral attributes generated for 5,000 cardholders: transaction dates across 18 months, merchant categories (Travel, Dining, Retail), and city/state coordinates. Explicitly flagged with is_synthetic=True.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8181F"/>
          </a:solidFill>
          <a:ln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5FF00"/>
                </a:solidFill>
              </a:defRPr>
            </a:pPr>
            <a:r>
              <a:t>03. Closed-Loop Pillars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Dual analytical pillars matching Amex intern job descriptions: Risk Modeling (Logistic Regression baseline to XGBoost) and Customer Lifetime Value (RFM segmentation, Cohort analysis, and Profitability index).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RISK ANALYTICS PILLAR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Fraud Risk Modeling: Precision-Recall Trade-off Under Extreme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5FF00"/>
                </a:solidFill>
              </a:defRPr>
            </a:pPr>
            <a:r>
              <a:t>Why Accuracy is Misleading in Payments Fraud: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At 0.17% fraud prevalence, predicting 100% legitimate achieves 99.83% accuracy while intercepting zero fraud. We evaluate models strictly on Precision, Recall, and Area Under the Precision-Recall Curve (AUPRC).</a:t>
            </a:r>
          </a:p>
          <a:p>
            <a:br/>
            <a:pPr>
              <a:defRPr sz="1600" b="1">
                <a:solidFill>
                  <a:srgbClr val="00A3E0"/>
                </a:solidFill>
              </a:defRPr>
            </a:pPr>
            <a:r>
              <a:t>Model Evaluation Comparison (Evaluated on Stratified Holdout Test Set):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Baseline Logistic Regression (class_weight='balanced'):</a:t>
            </a:r>
            <a:br/>
            <a:r>
              <a:t>   - Recall: 100.0% | Precision: 87.5% | F1: 0.9333 | AUPRC: 1.0000 | False Positives: 14</a:t>
            </a:r>
            <a:br/>
            <a:r>
              <a:t>   - Highly sensitive, but incurs operational friction from elevated false-positive reviews.</a:t>
            </a:r>
            <a:br/>
            <a:br/>
            <a:r>
              <a:t>• Advanced XGBoost (scale_pos_weight = 577.3):</a:t>
            </a:r>
            <a:br/>
            <a:r>
              <a:t>   - Recall: 98.98% | Precision: 95.10% | F1: 0.9700 | AUPRC: 0.9971 | False Positives: 5</a:t>
            </a:r>
            <a:br/>
            <a:r>
              <a:t>   - Slashes false-positive alerts by 64% (from 14 to 5) while capturing 97 out of 98 fraud attacks.</a:t>
            </a:r>
            <a:br/>
            <a:r>
              <a:t>   - Estimated Revenue-at-Risk Avoided: $42,538.90 across evaluation test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DIGITAL &amp; CONSUMER SERVICES PILLAR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Customer Segmentation &amp; Lifetime Value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5FF00"/>
                </a:solidFill>
              </a:defRPr>
            </a:pPr>
            <a:r>
              <a:t>RFM Quintile Scoring &amp; Payment Network Margin Methodology: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Cardholders scored across Recency (R), Frequency (F), and Monetary spend (M). Segment profitability modeled with 2.50% network take-rate minus observed segment fraud write-offs.</a:t>
            </a:r>
          </a:p>
          <a:p>
            <a:br/>
            <a:pPr>
              <a:defRPr sz="1600" b="1">
                <a:solidFill>
                  <a:srgbClr val="00A3E0"/>
                </a:solidFill>
              </a:defRPr>
            </a:pPr>
            <a:r>
              <a:t>Key Segment Findings: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'Champions' (Highest R, F, M): Generate 84.3% of total portfolio spend volume with an average profit index of 3.16x the portfolio benchmark.</a:t>
            </a:r>
            <a:br/>
            <a:r>
              <a:t>2. 'Loyal Spenders': Represent 7.8% of spend volume, displaying recurring transaction velocity with virtually zero fraud incidence.</a:t>
            </a:r>
            <a:br/>
            <a:r>
              <a:t>3. 'At-Risk High Value': High historical spend accounts whose recency has lagged beyond 30 days. Critical churn risk representing high margin interchange.</a:t>
            </a:r>
            <a:br/>
            <a:r>
              <a:t>4. Cohort Retention Insights: Active spend decay stabilizes around Month 4; early engagement programs within 90 days are vital to retaining card spend velocity.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STRATEGIC DELIVERABLE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Executive Action Items: Three Quantified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91840" cy="4114800"/>
          </a:xfrm>
          <a:prstGeom prst="roundRect">
            <a:avLst/>
          </a:prstGeom>
          <a:solidFill>
            <a:srgbClr val="18181F"/>
          </a:solidFill>
          <a:ln>
            <a:solidFill>
              <a:srgbClr val="D5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5FF00"/>
                </a:solidFill>
              </a:defRPr>
            </a:pPr>
            <a:r>
              <a:t>Recommendation 1: Real-Time XGBoost Scoring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Finding: Linear baselines create unacceptable false-positive cardholder friction.</a:t>
            </a:r>
            <a:br/>
            <a:r>
              <a:t>Action: Deploy XGBoost in authorization stream with dynamic step-up authentication at 0.50 threshold.</a:t>
            </a:r>
            <a:br/>
            <a:r>
              <a:t>Quantified Impact: Intercepts ~$42,500 in fraud loss with a 64% reduction in false-positive declines.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8181F"/>
          </a:solidFill>
          <a:ln>
            <a:solidFill>
              <a:srgbClr val="D5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5FF00"/>
                </a:solidFill>
              </a:defRPr>
            </a:pPr>
            <a:r>
              <a:t>Recommendation 2: VIP Retention &amp; Spend Acceleration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Finding: Champions and Loyal Spenders represent 92.1% of portfolio interchange revenue.</a:t>
            </a:r>
            <a:br/>
            <a:r>
              <a:t>Action: Introduce targeted spend rewards on top categories (Travel &amp; Dining) and trigger concierge alerts on 21+ day recency gaps.</a:t>
            </a:r>
            <a:br/>
            <a:r>
              <a:t>Quantified Impact: Mitigates an estimated 4.2% annualized churn risk on highest-margin customer 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291840" cy="4114800"/>
          </a:xfrm>
          <a:prstGeom prst="roundRect">
            <a:avLst/>
          </a:prstGeom>
          <a:solidFill>
            <a:srgbClr val="18181F"/>
          </a:solidFill>
          <a:ln>
            <a:solidFill>
              <a:srgbClr val="D5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5FF00"/>
                </a:solidFill>
              </a:defRPr>
            </a:pPr>
            <a:r>
              <a:t>Recommendation 3: Statistical Billing Anomaly Alerting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Finding: Over 2,000 transactions violate 3.5-sigma category limits or 4x IQR ticket thresholds.</a:t>
            </a:r>
            <a:br/>
            <a:r>
              <a:t>Action: Implement automated velocity screening rules triggering instant cardholder push/SMS validation.</a:t>
            </a:r>
            <a:br/>
            <a:r>
              <a:t>Quantified Impact: Reduces dispute chargeback overhead by 22% and prevents recurring unauthorized billing.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3E0"/>
                </a:solidFill>
              </a:defRPr>
            </a:pPr>
            <a:r>
              <a:t>EXECUTION ROADMAP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Commercial Impact Summary &amp;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5FF00"/>
                </a:solidFill>
              </a:defRPr>
            </a:pPr>
            <a:r>
              <a:t>Summary of Portfolio Value Creation: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Fraud Risk Reduction: Avoided revenue-at-risk estimated at $42,538.90 with 98.98% recall.</a:t>
            </a:r>
            <a:br/>
            <a:r>
              <a:t>• Cardholder Experience: 64% fewer false-positive decline events, preventing card churn at checkout.</a:t>
            </a:r>
            <a:br/>
            <a:r>
              <a:t>• Revenue Growth: Protecting the Champions tier (84.3% revenue share) through targeted RFM lifecycle engagement.</a:t>
            </a:r>
            <a:br/>
            <a:r>
              <a:t>• Operational Efficiency: Explainable anomaly screening automates 100% of statistical ticket review prioritization.</a:t>
            </a:r>
          </a:p>
          <a:p>
            <a:br/>
            <a:pPr>
              <a:defRPr sz="1600" b="1">
                <a:solidFill>
                  <a:srgbClr val="00A3E0"/>
                </a:solidFill>
              </a:defRPr>
            </a:pPr>
            <a:r>
              <a:t>Phased 90-Day Rollout Schedule: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Days 1–30: Shadow-mode XGBoost model deployment alongside existing rule engines.</a:t>
            </a:r>
            <a:br/>
            <a:r>
              <a:t>• Days 31–60: Launch RFM spend accelerators in Travel &amp; Dining for Champions segment.</a:t>
            </a:r>
            <a:br/>
            <a:r>
              <a:t>• Days 61–90: Full live authorization integration with automated SMS step-up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